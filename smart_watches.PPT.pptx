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0" r:id="rId4"/>
    <p:sldId id="261" r:id="rId5"/>
    <p:sldId id="262" r:id="rId6"/>
    <p:sldId id="263" r:id="rId7"/>
    <p:sldId id="265" r:id="rId8"/>
    <p:sldId id="268" r:id="rId9"/>
    <p:sldId id="269" r:id="rId10"/>
    <p:sldId id="267" r:id="rId11"/>
    <p:sldId id="270" r:id="rId12"/>
    <p:sldId id="271" r:id="rId13"/>
    <p:sldId id="272" r:id="rId14"/>
    <p:sldId id="277" r:id="rId15"/>
    <p:sldId id="273" r:id="rId16"/>
    <p:sldId id="274" r:id="rId17"/>
    <p:sldId id="275" r:id="rId18"/>
    <p:sldId id="276" r:id="rId19"/>
    <p:sldId id="278" r:id="rId20"/>
    <p:sldId id="279" r:id="rId21"/>
    <p:sldId id="280" r:id="rId22"/>
    <p:sldId id="281" r:id="rId23"/>
    <p:sldId id="283" r:id="rId24"/>
    <p:sldId id="282" r:id="rId25"/>
    <p:sldId id="25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E124-747A-924F-7F28-12201ACB5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15433D-0EC7-CC40-57BD-D0DDD861B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8067A-A5EA-87E4-C048-C55452CAE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8458-10E9-41C4-95C3-1F70783465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E3530-D9A7-85A2-1D10-C73B4D283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1C2C0-E53A-3426-8855-DA18F5854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8E98-615B-4C86-8531-0363E4B5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113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890FF-A6C6-EE88-83E6-350CA0C2A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D09D0-50A7-536D-8801-F9449E856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0EDC-D42F-2D0A-9032-0B0BFDA7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8458-10E9-41C4-95C3-1F70783465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78CD3-8FEE-E0F7-ECCE-10703547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F5499-6DEC-036B-AAB4-F5F384721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8E98-615B-4C86-8531-0363E4B5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007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D53C7-E387-7F6A-AA86-00AA71937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C0B4B-D0B3-AF5F-C846-E7580E28D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71E77-7EC6-4CDB-9C6D-0466A2492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8458-10E9-41C4-95C3-1F70783465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A722D-0B1B-4F75-0F73-84347D59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98BB1-F7CB-DAFD-1F6C-8CF965FDC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8E98-615B-4C86-8531-0363E4B5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701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609D-9B55-91E3-C2B9-DF82BAC0C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5ECA0-3339-9AB4-7537-5950748F8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9E167-71AF-95D5-0A3B-3950588C1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20D97-EEDD-6CC2-20AF-79088C529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8458-10E9-41C4-95C3-1F70783465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108AF-882D-6C03-A69F-0CB01BFB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75EF8-82FF-CB51-BB58-26BFAE20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8E98-615B-4C86-8531-0363E4B5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777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19010-E83A-7AB6-8BA7-36F1A1C88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C5A00-C0CC-3BED-0295-63C8DFC25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36FDC4-0EF6-1CD3-911A-E7478F016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2ECB3-C8F8-3B86-4F41-C5EA916A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3D9EEA-0BB8-E468-A814-CC1417BD8D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444D2E-F8C8-6116-E779-289D7EE28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8458-10E9-41C4-95C3-1F70783465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199664-C152-274F-8DAB-F4B41859E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8EBB69-BA7D-2D24-C454-DEDE76CA8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8E98-615B-4C86-8531-0363E4B5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570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FABD0-88BE-189C-53BA-DE8107222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51C45A-117C-DBFC-4F9B-22F1B57A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8458-10E9-41C4-95C3-1F70783465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F5FFC-BFA4-34CF-669A-859103144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2935B7-ACEB-6A9D-827B-2008CDDB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8E98-615B-4C86-8531-0363E4B5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60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F9BAAE-FA8C-59E0-D5C9-2E4A2B844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8458-10E9-41C4-95C3-1F70783465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149FC7-EFAA-8FA3-D980-A4573EACE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EAC9B-9DFF-7EFA-2231-5C09110BB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8E98-615B-4C86-8531-0363E4B5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793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5B7B4-EEB3-2E06-0D9B-F8FA2D4CD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7E7ED-990E-CCCF-17A0-AD6E1153D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C7366-050E-25A7-71C7-79AC07CC9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7209B-8E83-12A1-A92E-78DFE9626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8458-10E9-41C4-95C3-1F70783465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BD355-3FDB-C175-6183-29A5B9EAD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35478-33D9-8BEA-E537-CDD913761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8E98-615B-4C86-8531-0363E4B5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505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100F0-FA59-900E-73B2-34B7964D7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D3B3CF-C72C-6E41-A45C-CAC2D15C18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34315-A4EC-7004-DA23-E9DF95A36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4EB96-F033-818F-883E-D8F788647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8458-10E9-41C4-95C3-1F70783465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B15BE-64D0-8AD8-D4CD-556838A8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ED21F-C892-CF7A-628B-C01336192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8E98-615B-4C86-8531-0363E4B5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59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6969E-3086-66EE-1DCE-731D90A74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CF724-2D10-0E49-D6DF-3CF3B6D2C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70BFB-1564-C864-BB70-7CE351354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8458-10E9-41C4-95C3-1F70783465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7DB23-8BF1-026C-73B4-C1D02410A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4D12D-EF84-39C8-B413-FC86ED18F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8E98-615B-4C86-8531-0363E4B5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49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639D1B-6D73-25B8-B929-6F62ECF9D7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71334-3A78-4331-71F1-13FC5D153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D868C-1B8D-8518-13F3-3EBE3244A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8458-10E9-41C4-95C3-1F70783465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7B893-2B4A-124C-B1CC-33FAB3354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48D11-581B-6907-5E9F-A778C62F6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08E98-615B-4C86-8531-0363E4B5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90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BA923F-836B-7477-3674-CD5119C4A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4848E-4478-6648-EFD2-C612BD22F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85BAC-B844-5839-0706-62B9F0FE7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38458-10E9-41C4-95C3-1F7078346598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0CE02-D99B-088A-6F09-7255A89A3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787D7-0184-20DA-B707-6318ACBEE9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08E98-615B-4C86-8531-0363E4B59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817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DC93443-60CA-BEC4-62CC-4D29B0E1C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63826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5F35B5-D1E6-EF8A-E3FC-CC304118CB20}"/>
              </a:ext>
            </a:extLst>
          </p:cNvPr>
          <p:cNvSpPr txBox="1"/>
          <p:nvPr/>
        </p:nvSpPr>
        <p:spPr>
          <a:xfrm>
            <a:off x="1464365" y="3074505"/>
            <a:ext cx="92632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Smartwatch Data Collection, Cleaning &amp; Exploratory Data Analysis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449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96FADE-262E-15F8-BB46-7342D91A46B6}"/>
              </a:ext>
            </a:extLst>
          </p:cNvPr>
          <p:cNvSpPr txBox="1"/>
          <p:nvPr/>
        </p:nvSpPr>
        <p:spPr>
          <a:xfrm>
            <a:off x="497305" y="441482"/>
            <a:ext cx="10523622" cy="6108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Smartwatches have changed the way we live and stay connected.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combine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style, fitness, and technology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one smart device.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features like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rate monitor, step counter, notifications, and voice control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they make daily life easier and healthier.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brands like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Boat, Noise, Fire-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Boltt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Apple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 a wide range of options for every user.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Today, smartwatches are not just gadgets — they are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 companion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symbol of modern innovation.</a:t>
            </a:r>
          </a:p>
        </p:txBody>
      </p:sp>
    </p:spTree>
    <p:extLst>
      <p:ext uri="{BB962C8B-B14F-4D97-AF65-F5344CB8AC3E}">
        <p14:creationId xmlns:p14="http://schemas.microsoft.com/office/powerpoint/2010/main" val="1055148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9C89A0-61F6-FF90-1161-D52FD692F150}"/>
              </a:ext>
            </a:extLst>
          </p:cNvPr>
          <p:cNvSpPr txBox="1"/>
          <p:nvPr/>
        </p:nvSpPr>
        <p:spPr>
          <a:xfrm>
            <a:off x="463825" y="119992"/>
            <a:ext cx="6096000" cy="90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5592F4-AFE9-7324-750C-7B1AFF101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825" y="1213230"/>
            <a:ext cx="1103836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Smartwatch data from e-commerce sites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unstructured and inconsistent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it hard to compare products.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Prices, offers, and sizes are often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or written in different formats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confusion.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Businesses and customers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insights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key factors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trends and deal effectiveness.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smartwatch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understand: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Pricing trends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discount strategies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Popular brands, sizes, and deal types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MRP, price, and offers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864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15F506-FCB1-A17E-05D1-A796A59AF55A}"/>
              </a:ext>
            </a:extLst>
          </p:cNvPr>
          <p:cNvSpPr txBox="1"/>
          <p:nvPr/>
        </p:nvSpPr>
        <p:spPr>
          <a:xfrm>
            <a:off x="662609" y="65022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E1809B-6017-3180-462D-B7DD781A02BD}"/>
              </a:ext>
            </a:extLst>
          </p:cNvPr>
          <p:cNvSpPr txBox="1"/>
          <p:nvPr/>
        </p:nvSpPr>
        <p:spPr>
          <a:xfrm>
            <a:off x="662609" y="2071374"/>
            <a:ext cx="10601739" cy="1307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data cleaning and Exploratory Data Analysis (EDA) to extract meaningful insights for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330245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172086-4970-9BBC-42E1-31193757945B}"/>
              </a:ext>
            </a:extLst>
          </p:cNvPr>
          <p:cNvSpPr txBox="1"/>
          <p:nvPr/>
        </p:nvSpPr>
        <p:spPr>
          <a:xfrm>
            <a:off x="490330" y="54049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Details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108CD7-4267-EB49-D835-A761A21DD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95" y="1424368"/>
            <a:ext cx="11913705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Website Used: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Flipkart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Requests, Pandas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- Scraped smartwatch details like brand, model, MRP, price, offer, size, deal type,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display size.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- Cleaned and saved data as a CSV file for analysis.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Data: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400+ rows,  8+ features</a:t>
            </a:r>
          </a:p>
        </p:txBody>
      </p:sp>
    </p:spTree>
    <p:extLst>
      <p:ext uri="{BB962C8B-B14F-4D97-AF65-F5344CB8AC3E}">
        <p14:creationId xmlns:p14="http://schemas.microsoft.com/office/powerpoint/2010/main" val="3936920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D9B1F9-2983-84F3-1D86-9DBD5BA7B40F}"/>
              </a:ext>
            </a:extLst>
          </p:cNvPr>
          <p:cNvSpPr txBox="1"/>
          <p:nvPr/>
        </p:nvSpPr>
        <p:spPr>
          <a:xfrm>
            <a:off x="662609" y="147185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1.) Data Cleaning Steps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59B341-DACF-B7B1-2466-6D7A77DC5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609" y="2516239"/>
            <a:ext cx="8779455" cy="3892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commas and converted price and MRP to float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size names (free size, medium, large, etc.)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mm → inch for display size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Categorized deals (Super Deal, Bank Offer, etc.)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Filled missing values with mean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 and corrected headers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411E84-4A67-B468-588F-8982DD4ADA34}"/>
              </a:ext>
            </a:extLst>
          </p:cNvPr>
          <p:cNvSpPr txBox="1"/>
          <p:nvPr/>
        </p:nvSpPr>
        <p:spPr>
          <a:xfrm>
            <a:off x="238539" y="241779"/>
            <a:ext cx="104957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</p:txBody>
      </p:sp>
    </p:spTree>
    <p:extLst>
      <p:ext uri="{BB962C8B-B14F-4D97-AF65-F5344CB8AC3E}">
        <p14:creationId xmlns:p14="http://schemas.microsoft.com/office/powerpoint/2010/main" val="1661208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5D856B-CC99-F91B-528A-D81D7B36B15F}"/>
              </a:ext>
            </a:extLst>
          </p:cNvPr>
          <p:cNvSpPr txBox="1"/>
          <p:nvPr/>
        </p:nvSpPr>
        <p:spPr>
          <a:xfrm>
            <a:off x="424070" y="381269"/>
            <a:ext cx="96343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2.) Data Manipulation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37823-9741-7D1C-33CD-0574AB2EFFCF}"/>
              </a:ext>
            </a:extLst>
          </p:cNvPr>
          <p:cNvSpPr txBox="1"/>
          <p:nvPr/>
        </p:nvSpPr>
        <p:spPr>
          <a:xfrm>
            <a:off x="424070" y="1089155"/>
            <a:ext cx="11085444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Transformations Made: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new feature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discount_amount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MRP - price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discount_category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(Low, Medium, High, Very High) to group offers.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Classified products into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price_category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(Budget, Affordable, Mid-range, Premium, Luxury).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display sizes from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 → inches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consistency.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Filtered and focused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popular brands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analysis.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dataset with meaningful derived features to reveal deeper insights.</a:t>
            </a:r>
          </a:p>
        </p:txBody>
      </p:sp>
    </p:spTree>
    <p:extLst>
      <p:ext uri="{BB962C8B-B14F-4D97-AF65-F5344CB8AC3E}">
        <p14:creationId xmlns:p14="http://schemas.microsoft.com/office/powerpoint/2010/main" val="2840325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A893603-5979-F066-0146-29E58FB40C75}"/>
              </a:ext>
            </a:extLst>
          </p:cNvPr>
          <p:cNvSpPr txBox="1"/>
          <p:nvPr/>
        </p:nvSpPr>
        <p:spPr>
          <a:xfrm>
            <a:off x="505326" y="1968169"/>
            <a:ext cx="50853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Size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common among all smartwatches, showing that most brands prefer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design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fits all wrist types.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Size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follows next, indicating moderate demand for standard-sized models.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sizes are less frequent, suggesting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customization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wrist size.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88ACC84-A65E-5795-D226-814D4FF77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7031" y="1004483"/>
            <a:ext cx="6096001" cy="507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DC8751-A503-DFBA-E70D-6C90F24A1033}"/>
              </a:ext>
            </a:extLst>
          </p:cNvPr>
          <p:cNvSpPr txBox="1"/>
          <p:nvPr/>
        </p:nvSpPr>
        <p:spPr>
          <a:xfrm>
            <a:off x="689810" y="4640014"/>
            <a:ext cx="42351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dominance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Size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reflects a clear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preference for flexibility and convenience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the need for size-specific variants.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C2C83B-5E15-E1D1-7E65-BC2FB42B297E}"/>
              </a:ext>
            </a:extLst>
          </p:cNvPr>
          <p:cNvSpPr txBox="1"/>
          <p:nvPr/>
        </p:nvSpPr>
        <p:spPr>
          <a:xfrm>
            <a:off x="505326" y="309081"/>
            <a:ext cx="5669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3.) Univariate Analysis </a:t>
            </a:r>
          </a:p>
        </p:txBody>
      </p:sp>
    </p:spTree>
    <p:extLst>
      <p:ext uri="{BB962C8B-B14F-4D97-AF65-F5344CB8AC3E}">
        <p14:creationId xmlns:p14="http://schemas.microsoft.com/office/powerpoint/2010/main" val="2163994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695BA564-B0F1-5272-E163-E0ABF4420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236" y="296152"/>
            <a:ext cx="7160795" cy="6265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EFF8B1-8749-7903-DB7B-B530F6022BCA}"/>
              </a:ext>
            </a:extLst>
          </p:cNvPr>
          <p:cNvSpPr txBox="1"/>
          <p:nvPr/>
        </p:nvSpPr>
        <p:spPr>
          <a:xfrm>
            <a:off x="577516" y="1145738"/>
            <a:ext cx="370572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smartwatch prices fall within a moderate range (e.g., ₹1,000 – ₹10,000).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extreme values (outliers) represent premium models priced much higher.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presence of many outliers shows that the market has both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budget-friendly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luxury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spread of prices suggests high price variation across brands and models.</a:t>
            </a:r>
          </a:p>
        </p:txBody>
      </p:sp>
    </p:spTree>
    <p:extLst>
      <p:ext uri="{BB962C8B-B14F-4D97-AF65-F5344CB8AC3E}">
        <p14:creationId xmlns:p14="http://schemas.microsoft.com/office/powerpoint/2010/main" val="1687503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A13F020-6BFF-02AB-3659-A578AEAAD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39" y="987968"/>
            <a:ext cx="6126721" cy="488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065C79-0805-A496-FEFB-C02A64DFC5D5}"/>
              </a:ext>
            </a:extLst>
          </p:cNvPr>
          <p:cNvSpPr txBox="1"/>
          <p:nvPr/>
        </p:nvSpPr>
        <p:spPr>
          <a:xfrm>
            <a:off x="6890335" y="820991"/>
            <a:ext cx="44757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category has the highest number of smartwatches, showing that most products are affordable.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mid-range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category has a decent number of options, catering to balanced buyers.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category has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fewest products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limited availability or niche targeting.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4E5F3-D5C5-CBE1-559A-2FC0C64B74F0}"/>
              </a:ext>
            </a:extLst>
          </p:cNvPr>
          <p:cNvSpPr txBox="1"/>
          <p:nvPr/>
        </p:nvSpPr>
        <p:spPr>
          <a:xfrm>
            <a:off x="7098883" y="3451687"/>
            <a:ext cx="471637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The smartwatch market is </a:t>
            </a:r>
            <a:r>
              <a:rPr lang="en-US" b="1" dirty="0"/>
              <a:t>dominated by budget-friendly models</a:t>
            </a:r>
            <a:r>
              <a:rPr lang="en-US" dirty="0"/>
              <a:t>, suggesting strong demand among cost-conscious consumers.</a:t>
            </a:r>
            <a:br>
              <a:rPr lang="en-US" dirty="0"/>
            </a:br>
            <a:r>
              <a:rPr lang="en-US" dirty="0"/>
              <a:t>Brands like </a:t>
            </a:r>
            <a:r>
              <a:rPr lang="en-US" b="1" dirty="0" err="1"/>
              <a:t>boAt</a:t>
            </a:r>
            <a:r>
              <a:rPr lang="en-US" dirty="0"/>
              <a:t>, </a:t>
            </a:r>
            <a:r>
              <a:rPr lang="en-US" b="1" dirty="0"/>
              <a:t>Noise</a:t>
            </a:r>
            <a:r>
              <a:rPr lang="en-US" dirty="0"/>
              <a:t>, and </a:t>
            </a:r>
            <a:r>
              <a:rPr lang="en-US" b="1" dirty="0"/>
              <a:t>Fire-</a:t>
            </a:r>
            <a:r>
              <a:rPr lang="en-US" b="1" dirty="0" err="1"/>
              <a:t>Boltt</a:t>
            </a:r>
            <a:r>
              <a:rPr lang="en-US" dirty="0"/>
              <a:t> focus mainly on these affordable categories, while premium brands like </a:t>
            </a:r>
            <a:r>
              <a:rPr lang="en-US" b="1" dirty="0"/>
              <a:t>Apple</a:t>
            </a:r>
            <a:r>
              <a:rPr lang="en-US" dirty="0"/>
              <a:t> and </a:t>
            </a:r>
            <a:r>
              <a:rPr lang="en-US" b="1" dirty="0"/>
              <a:t>Samsung</a:t>
            </a:r>
            <a:r>
              <a:rPr lang="en-US" dirty="0"/>
              <a:t> occupy the higher-end segment.</a:t>
            </a:r>
            <a:br>
              <a:rPr lang="en-US" dirty="0"/>
            </a:br>
            <a:r>
              <a:rPr lang="en-US" dirty="0"/>
              <a:t>This reflects a </a:t>
            </a:r>
            <a:r>
              <a:rPr lang="en-US" b="1" dirty="0"/>
              <a:t>mass-market strategy</a:t>
            </a:r>
            <a:r>
              <a:rPr lang="en-US" dirty="0"/>
              <a:t> for Indian brands and a </a:t>
            </a:r>
            <a:r>
              <a:rPr lang="en-US" b="1" dirty="0"/>
              <a:t>value-based strategy</a:t>
            </a:r>
            <a:r>
              <a:rPr lang="en-US" dirty="0"/>
              <a:t> for global ones.</a:t>
            </a:r>
          </a:p>
        </p:txBody>
      </p:sp>
    </p:spTree>
    <p:extLst>
      <p:ext uri="{BB962C8B-B14F-4D97-AF65-F5344CB8AC3E}">
        <p14:creationId xmlns:p14="http://schemas.microsoft.com/office/powerpoint/2010/main" val="3270880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5DD914C-A565-652D-3BA4-CB1C3223F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4968" y="1116778"/>
            <a:ext cx="6165137" cy="543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E94DF9F6-98A2-4FD6-65F7-8FBF964EB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688" y="1330220"/>
            <a:ext cx="4907280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smartwatch brands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on listings are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Fire-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Boltt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Noise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these brands dominate the online market.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brands offer a wide variety of models across price ranges, targeting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budget-conscious customers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maximizing visibility.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Premium brands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Apple, Samsung, and Huawei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appear less frequently but cater to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high-end segment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advanced features and higher prices.</a:t>
            </a:r>
          </a:p>
        </p:txBody>
      </p:sp>
    </p:spTree>
    <p:extLst>
      <p:ext uri="{BB962C8B-B14F-4D97-AF65-F5344CB8AC3E}">
        <p14:creationId xmlns:p14="http://schemas.microsoft.com/office/powerpoint/2010/main" val="3261147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D2981BFA-FEA7-48F9-6829-3B17F5892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1201103"/>
            <a:ext cx="6133147" cy="4887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9FC73A-D470-DC99-DEF5-E4F177C0A13C}"/>
              </a:ext>
            </a:extLst>
          </p:cNvPr>
          <p:cNvSpPr txBox="1"/>
          <p:nvPr/>
        </p:nvSpPr>
        <p:spPr>
          <a:xfrm>
            <a:off x="6812282" y="4615994"/>
            <a:ext cx="428243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smartwatch market operates in a </a:t>
            </a:r>
            <a:r>
              <a:rPr lang="en-US" b="1" dirty="0"/>
              <a:t>discount-driven environment</a:t>
            </a:r>
            <a:r>
              <a:rPr lang="en-US" dirty="0"/>
              <a:t>, where </a:t>
            </a:r>
            <a:r>
              <a:rPr lang="en-US" b="1" dirty="0"/>
              <a:t>competitive pricing</a:t>
            </a:r>
            <a:r>
              <a:rPr lang="en-US" dirty="0"/>
              <a:t> plays a major role in sales performance.</a:t>
            </a:r>
            <a:br>
              <a:rPr lang="en-US" dirty="0"/>
            </a:br>
            <a:r>
              <a:rPr lang="en-US" dirty="0"/>
              <a:t>Most sellers target </a:t>
            </a:r>
            <a:r>
              <a:rPr lang="en-US" b="1" dirty="0"/>
              <a:t>budget-conscious consumers</a:t>
            </a:r>
            <a:r>
              <a:rPr lang="en-US" dirty="0"/>
              <a:t>, and large discounts are used as a </a:t>
            </a:r>
            <a:r>
              <a:rPr lang="en-US" b="1" dirty="0"/>
              <a:t>key marketing strategy</a:t>
            </a:r>
            <a:r>
              <a:rPr lang="en-US" dirty="0"/>
              <a:t> to increase conversions and outperform competitors.</a:t>
            </a:r>
          </a:p>
          <a:p>
            <a:endParaRPr lang="en-IN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85877D30-043C-3EB3-AB77-C2B9C0ACD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6040" y="656788"/>
            <a:ext cx="5775960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“High Discount”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category dominates the dataset, showing that most smartwatch listings rely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heavy discounts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attract customers.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“Very High Discount”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category ranks next, meaning several brands 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extreme markdowns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boost visibility and sales.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Discount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categories are comparatively smaller, indicating fewer premium or fixed-price products.</a:t>
            </a:r>
          </a:p>
        </p:txBody>
      </p:sp>
    </p:spTree>
    <p:extLst>
      <p:ext uri="{BB962C8B-B14F-4D97-AF65-F5344CB8AC3E}">
        <p14:creationId xmlns:p14="http://schemas.microsoft.com/office/powerpoint/2010/main" val="3653354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3FA60C-0779-D09C-553C-C8FCF23359C6}"/>
              </a:ext>
            </a:extLst>
          </p:cNvPr>
          <p:cNvSpPr txBox="1"/>
          <p:nvPr/>
        </p:nvSpPr>
        <p:spPr>
          <a:xfrm>
            <a:off x="548640" y="39445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4.) Bi-Variate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8AE77-C53E-878E-12BC-60729FE53207}"/>
              </a:ext>
            </a:extLst>
          </p:cNvPr>
          <p:cNvSpPr txBox="1"/>
          <p:nvPr/>
        </p:nvSpPr>
        <p:spPr>
          <a:xfrm>
            <a:off x="548640" y="1196300"/>
            <a:ext cx="4800600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scatter plot shows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correlation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offer percentage and price.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discounts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usually applied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 to mid-range smartwatches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premium models have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or no discounts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outlier points suggest some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high-end watches with heavy promotional offers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likely limited-time deals.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3EEA72F-E5B4-0B3C-417B-908146347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880" y="1196300"/>
            <a:ext cx="6675120" cy="5097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A924DC-AFE6-EDB6-4120-7A2405F24424}"/>
              </a:ext>
            </a:extLst>
          </p:cNvPr>
          <p:cNvSpPr txBox="1"/>
          <p:nvPr/>
        </p:nvSpPr>
        <p:spPr>
          <a:xfrm>
            <a:off x="381000" y="5103674"/>
            <a:ext cx="53644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E-commerce platforms use </a:t>
            </a:r>
            <a:r>
              <a:rPr lang="en-US" b="1" dirty="0"/>
              <a:t>high discounts</a:t>
            </a:r>
            <a:r>
              <a:rPr lang="en-US" dirty="0"/>
              <a:t> mainly to boost sales of </a:t>
            </a:r>
            <a:r>
              <a:rPr lang="en-US" b="1" dirty="0"/>
              <a:t>affordable smartwatch models</a:t>
            </a:r>
            <a:r>
              <a:rPr lang="en-US" dirty="0"/>
              <a:t>, appealing to price-sensitive customers.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Premium brands</a:t>
            </a:r>
            <a:r>
              <a:rPr lang="en-US" dirty="0"/>
              <a:t> (like Apple and Samsung) rely more on </a:t>
            </a:r>
            <a:r>
              <a:rPr lang="en-US" b="1" dirty="0"/>
              <a:t>brand value</a:t>
            </a:r>
            <a:r>
              <a:rPr lang="en-US" dirty="0"/>
              <a:t> than discounts, indicating a </a:t>
            </a:r>
            <a:r>
              <a:rPr lang="en-US" b="1" dirty="0"/>
              <a:t>segmented pricing strategy</a:t>
            </a:r>
            <a:r>
              <a:rPr lang="en-US" dirty="0"/>
              <a:t> in the smartwatch market.</a:t>
            </a:r>
          </a:p>
        </p:txBody>
      </p:sp>
    </p:spTree>
    <p:extLst>
      <p:ext uri="{BB962C8B-B14F-4D97-AF65-F5344CB8AC3E}">
        <p14:creationId xmlns:p14="http://schemas.microsoft.com/office/powerpoint/2010/main" val="2673701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F938FAF4-7A3E-AF78-C114-27B239E12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8" y="820949"/>
            <a:ext cx="6752272" cy="5216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9A1BD6-CA43-9297-A3D5-837B1BBB2F07}"/>
              </a:ext>
            </a:extLst>
          </p:cNvPr>
          <p:cNvSpPr txBox="1"/>
          <p:nvPr/>
        </p:nvSpPr>
        <p:spPr>
          <a:xfrm>
            <a:off x="6918960" y="1392391"/>
            <a:ext cx="4995247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scatterplot between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MRP and Price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a clear positive correlation — as the MRP increases, the selling price also rises proportionally. However, the gap between MRP and actual price widens for higher-priced watches, suggesting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heavier discounts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premium products. This indicates that brands often use significant markdowns to make high-end models more attractive to buyers while maintaining perceived premium value.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1385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2AC4D010-D06A-F1DE-DC27-3DA44DC82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" y="568643"/>
            <a:ext cx="11948160" cy="441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524FE4-26D1-8C0A-865A-ADB57D998B53}"/>
              </a:ext>
            </a:extLst>
          </p:cNvPr>
          <p:cNvSpPr txBox="1"/>
          <p:nvPr/>
        </p:nvSpPr>
        <p:spPr>
          <a:xfrm>
            <a:off x="1508760" y="5161598"/>
            <a:ext cx="81686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Apple and Samsung</a:t>
            </a:r>
            <a:r>
              <a:rPr lang="en-US" dirty="0"/>
              <a:t> lead in average price, reflecting premium quality.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Noise, </a:t>
            </a:r>
            <a:r>
              <a:rPr lang="en-US" b="1" dirty="0" err="1"/>
              <a:t>boAt</a:t>
            </a:r>
            <a:r>
              <a:rPr lang="en-US" b="1" dirty="0"/>
              <a:t>, and Fire-</a:t>
            </a:r>
            <a:r>
              <a:rPr lang="en-US" b="1" dirty="0" err="1"/>
              <a:t>Boltt</a:t>
            </a:r>
            <a:r>
              <a:rPr lang="en-US" dirty="0"/>
              <a:t> dominate affordable smartwatch sales.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price gap</a:t>
            </a:r>
            <a:r>
              <a:rPr lang="en-US" dirty="0"/>
              <a:t> shows clear separation between luxury and budget brands.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Indian brands</a:t>
            </a:r>
            <a:r>
              <a:rPr lang="en-US" dirty="0"/>
              <a:t> attract buyers through aggressive discounts and low pricing.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Premium brands</a:t>
            </a:r>
            <a:r>
              <a:rPr lang="en-US" dirty="0"/>
              <a:t> rely on brand reputation rather than heavy discounts.</a:t>
            </a:r>
          </a:p>
        </p:txBody>
      </p:sp>
    </p:spTree>
    <p:extLst>
      <p:ext uri="{BB962C8B-B14F-4D97-AF65-F5344CB8AC3E}">
        <p14:creationId xmlns:p14="http://schemas.microsoft.com/office/powerpoint/2010/main" val="2824267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87002CE8-A7FA-2E5D-8A26-AC0B49671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141" y="1322593"/>
            <a:ext cx="6619875" cy="442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95EA4D8B-A6A6-FCF8-B517-C97F636A7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64" y="484859"/>
            <a:ext cx="4473677" cy="544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 Deal and Bank Offer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aggressive discount strategies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attracting customers with large reductions.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Exchange and Hot Deals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aimed at promotions rather than full discount.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Stock / Lowest Price / Other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focus on urgency or market competitiveness rather than high discount.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plot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visually confirms that the smartwatch market relies heavily on discount-based promotions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for popular deals.</a:t>
            </a:r>
          </a:p>
        </p:txBody>
      </p:sp>
    </p:spTree>
    <p:extLst>
      <p:ext uri="{BB962C8B-B14F-4D97-AF65-F5344CB8AC3E}">
        <p14:creationId xmlns:p14="http://schemas.microsoft.com/office/powerpoint/2010/main" val="158885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2948E0F7-8B4F-E920-DE07-8DC09F86B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11" y="1095222"/>
            <a:ext cx="5570589" cy="3923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2738F4-563A-F6FC-E11D-D3B3148BAF81}"/>
              </a:ext>
            </a:extLst>
          </p:cNvPr>
          <p:cNvSpPr txBox="1"/>
          <p:nvPr/>
        </p:nvSpPr>
        <p:spPr>
          <a:xfrm>
            <a:off x="6878280" y="706973"/>
            <a:ext cx="4788309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watches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average price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Size watches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slightly higher than Regular.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watches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come next in average price.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watches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higher average prices than Medium.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watches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have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average price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among all sizes.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generally increases from Regular → Free → Medium → Large → Small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reflecting pricing strategy based on size and demand.</a:t>
            </a:r>
          </a:p>
        </p:txBody>
      </p:sp>
    </p:spTree>
    <p:extLst>
      <p:ext uri="{BB962C8B-B14F-4D97-AF65-F5344CB8AC3E}">
        <p14:creationId xmlns:p14="http://schemas.microsoft.com/office/powerpoint/2010/main" val="3341073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5CF825-24FA-1384-630D-7437B9B3F341}"/>
              </a:ext>
            </a:extLst>
          </p:cNvPr>
          <p:cNvSpPr txBox="1"/>
          <p:nvPr/>
        </p:nvSpPr>
        <p:spPr>
          <a:xfrm>
            <a:off x="432619" y="45443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Multi-Variate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56A4B5-6151-8FC2-A654-0F132730BFE7}"/>
              </a:ext>
            </a:extLst>
          </p:cNvPr>
          <p:cNvSpPr txBox="1"/>
          <p:nvPr/>
        </p:nvSpPr>
        <p:spPr>
          <a:xfrm>
            <a:off x="582168" y="1672473"/>
            <a:ext cx="5394960" cy="499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does not show a strong relationship with display size.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offer percentages are mostly given on lower-priced watches.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smartwatches have smaller or no discounts.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size has minimal impact on pricing or offer percentage.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A9BF5B-9A4E-8F49-C4B5-262DFCAFB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541" y="795528"/>
            <a:ext cx="5958840" cy="526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032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B78DA774-297D-B0D2-4BAD-2A40887FF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202"/>
            <a:ext cx="12192000" cy="4294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36030F-E08C-E272-A782-872B14FCFF83}"/>
              </a:ext>
            </a:extLst>
          </p:cNvPr>
          <p:cNvSpPr txBox="1"/>
          <p:nvPr/>
        </p:nvSpPr>
        <p:spPr>
          <a:xfrm>
            <a:off x="1215352" y="4267260"/>
            <a:ext cx="82492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High-priced brands: Apple, Samsung, and Google have higher prices, mostly in the "Low" discount category.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Discount pattern: Most brands have prices concentrated in the "Low" discount category.-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range: Prices vary widely, with some brands like Apple and Samsung reaching up to ₹40,000.-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pricing strategy: Premium brands like Apple and Samsung have higher prices with less discount, while others offer more discounts across categories.</a:t>
            </a:r>
          </a:p>
        </p:txBody>
      </p:sp>
    </p:spTree>
    <p:extLst>
      <p:ext uri="{BB962C8B-B14F-4D97-AF65-F5344CB8AC3E}">
        <p14:creationId xmlns:p14="http://schemas.microsoft.com/office/powerpoint/2010/main" val="30289480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64B08647-CBFB-8C06-CA36-B8C338105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991" y="631722"/>
            <a:ext cx="6853698" cy="5862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906082-9D99-A0E1-AD39-E3A3284B6482}"/>
              </a:ext>
            </a:extLst>
          </p:cNvPr>
          <p:cNvSpPr txBox="1"/>
          <p:nvPr/>
        </p:nvSpPr>
        <p:spPr>
          <a:xfrm>
            <a:off x="7718322" y="832802"/>
            <a:ext cx="4178710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increases when MRP increases.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discount % → lower selling price.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MRP → bigger discount amount.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% and discount amount move together.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size doesn’t affect price or offers.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mainly depends on MRP and discounts.</a:t>
            </a:r>
          </a:p>
        </p:txBody>
      </p:sp>
    </p:spTree>
    <p:extLst>
      <p:ext uri="{BB962C8B-B14F-4D97-AF65-F5344CB8AC3E}">
        <p14:creationId xmlns:p14="http://schemas.microsoft.com/office/powerpoint/2010/main" val="3818617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A68E88-513B-4731-F230-251F79DDE711}"/>
              </a:ext>
            </a:extLst>
          </p:cNvPr>
          <p:cNvSpPr txBox="1"/>
          <p:nvPr/>
        </p:nvSpPr>
        <p:spPr>
          <a:xfrm>
            <a:off x="477078" y="436099"/>
            <a:ext cx="9303026" cy="5770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Questions</a:t>
            </a:r>
          </a:p>
          <a:p>
            <a:pPr>
              <a:buNone/>
            </a:pP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brands lead the smartwatch market?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discounts and deals affect prices?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price category sells the most?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link between MRP, price, and offer %?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watch size is most preferred?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brands use discounts to attract buyers?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factors drive smartwatch pricing trends?</a:t>
            </a:r>
          </a:p>
        </p:txBody>
      </p:sp>
    </p:spTree>
    <p:extLst>
      <p:ext uri="{BB962C8B-B14F-4D97-AF65-F5344CB8AC3E}">
        <p14:creationId xmlns:p14="http://schemas.microsoft.com/office/powerpoint/2010/main" val="3758225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863BBB-CD4F-9C0B-6157-D3A3954667DA}"/>
              </a:ext>
            </a:extLst>
          </p:cNvPr>
          <p:cNvSpPr txBox="1"/>
          <p:nvPr/>
        </p:nvSpPr>
        <p:spPr>
          <a:xfrm>
            <a:off x="748746" y="560944"/>
            <a:ext cx="9978887" cy="5524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None/>
            </a:pP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dominated by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Noise, Fire-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Boltt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boAt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products fall in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High/Very High discount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range.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 Deal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Offer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 top promotions.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Size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watches are most common and preferred.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brands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keep high prices, fewer discounts.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MRP and Price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strong positive correlation.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market is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discount-driven and price-sensitive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0024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386F14-1487-2221-6CC1-BF8C76A123F8}"/>
              </a:ext>
            </a:extLst>
          </p:cNvPr>
          <p:cNvSpPr txBox="1"/>
          <p:nvPr/>
        </p:nvSpPr>
        <p:spPr>
          <a:xfrm>
            <a:off x="371060" y="839643"/>
            <a:ext cx="10919791" cy="4231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</a:p>
          <a:p>
            <a:pPr>
              <a:buNone/>
            </a:pP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full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workflow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(scraping → cleaning → EDA).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Pandas,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Seaborn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insights.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data cleaning and visualization skills.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pricing and discount patterns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confidence in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presenting analytical results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1401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C43076-5C5C-9481-DBC4-05EAC69DA38B}"/>
              </a:ext>
            </a:extLst>
          </p:cNvPr>
          <p:cNvSpPr txBox="1"/>
          <p:nvPr/>
        </p:nvSpPr>
        <p:spPr>
          <a:xfrm>
            <a:off x="410816" y="607080"/>
            <a:ext cx="12748591" cy="3738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missing, duplicate, and inconsistent data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formats and deal names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and display values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data transformations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visuals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show insights effectively.</a:t>
            </a:r>
          </a:p>
        </p:txBody>
      </p:sp>
    </p:spTree>
    <p:extLst>
      <p:ext uri="{BB962C8B-B14F-4D97-AF65-F5344CB8AC3E}">
        <p14:creationId xmlns:p14="http://schemas.microsoft.com/office/powerpoint/2010/main" val="123077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43091-217A-F6A2-61AA-5DEEA0E4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4A5C428-7CB1-C5E0-AFA0-7B9027C5E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911" y="1910557"/>
            <a:ext cx="4505960" cy="2859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F77244-3A9B-4D02-EF7B-554C583D3A1F}"/>
              </a:ext>
            </a:extLst>
          </p:cNvPr>
          <p:cNvSpPr txBox="1"/>
          <p:nvPr/>
        </p:nvSpPr>
        <p:spPr>
          <a:xfrm>
            <a:off x="924232" y="1258529"/>
            <a:ext cx="4955458" cy="5373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en-US" sz="6000" dirty="0">
                <a:solidFill>
                  <a:srgbClr val="C00000"/>
                </a:solidFill>
                <a:latin typeface="Libre Baskerville" panose="02000000000000000000" pitchFamily="2" charset="0"/>
              </a:rPr>
              <a:t>THANK YOU</a:t>
            </a:r>
            <a:endParaRPr lang="en-US" altLang="en-US" sz="6000" dirty="0"/>
          </a:p>
          <a:p>
            <a:pPr algn="ctr">
              <a:lnSpc>
                <a:spcPct val="200000"/>
              </a:lnSpc>
            </a:pP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2913739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1594</Words>
  <Application>Microsoft Office PowerPoint</Application>
  <PresentationFormat>Widescreen</PresentationFormat>
  <Paragraphs>135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Libre Baskerville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 SREELAKSHMI</dc:creator>
  <cp:lastModifiedBy>shahina mohammad</cp:lastModifiedBy>
  <cp:revision>8</cp:revision>
  <dcterms:created xsi:type="dcterms:W3CDTF">2025-11-06T15:34:37Z</dcterms:created>
  <dcterms:modified xsi:type="dcterms:W3CDTF">2025-11-07T18:03:12Z</dcterms:modified>
</cp:coreProperties>
</file>